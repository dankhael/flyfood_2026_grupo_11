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9ADC22-8D5B-48B1-A5D1-051C18380F42}">
  <a:tblStyle styleId="{A89ADC22-8D5B-48B1-A5D1-051C18380F4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8272fcd8e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8272fcd8e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8272fcd8e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8272fcd8e_2_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d8272fcd8e_2_1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8272fcd8e_2_1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8272fcd8e_2_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d8272fcd8e_2_3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d8272fcd8e_2_3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8272fcd8e_2_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d8272fcd8e_2_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d8272fcd8e_2_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8272fcd8e_2_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d8272fcd8e_2_5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8272fcd8e_2_5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8272fcd8e_2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d8272fcd8e_2_1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8272fcd8e_2_1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8272fcd8e_2_1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d8272fcd8e_2_1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8272fcd8e_2_1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8272fcd8e_2_1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d8272fcd8e_2_15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d8272fcd8e_2_15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8272fcd8e_2_1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d8272fcd8e_2_17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d8272fcd8e_2_17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5486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/>
          <p:nvPr/>
        </p:nvSpPr>
        <p:spPr>
          <a:xfrm>
            <a:off x="1463040" y="41148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pt-BR" sz="4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FlyFood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1463040" y="128016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2000"/>
              <a:buFont typeface="Calibri"/>
              <a:buNone/>
            </a:pPr>
            <a:r>
              <a:rPr b="0" i="0" lang="pt-BR" sz="2000" u="none" cap="none" strike="noStrike">
                <a:solidFill>
                  <a:srgbClr val="B0D4E8"/>
                </a:solidFill>
                <a:latin typeface="Calibri"/>
                <a:ea typeface="Calibri"/>
                <a:cs typeface="Calibri"/>
                <a:sym typeface="Calibri"/>
              </a:rPr>
              <a:t>Otimização de Rotas para Drones de Entrega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1463040" y="19202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CC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7FB3CC"/>
                </a:solidFill>
                <a:latin typeface="Calibri"/>
                <a:ea typeface="Calibri"/>
                <a:cs typeface="Calibri"/>
                <a:sym typeface="Calibri"/>
              </a:rPr>
              <a:t>Problema do Caixeiro Viajante (TSP) | Força Bruta | Distância Manhattan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4008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919B"/>
              </a:buClr>
              <a:buSzPts val="1600"/>
              <a:buFont typeface="Calibri"/>
              <a:buNone/>
            </a:pPr>
            <a:r>
              <a:rPr b="1" i="0" lang="pt-BR" sz="1600" u="none" cap="none" strike="noStrike">
                <a:solidFill>
                  <a:srgbClr val="14919B"/>
                </a:solidFill>
                <a:latin typeface="Calibri"/>
                <a:ea typeface="Calibri"/>
                <a:cs typeface="Calibri"/>
                <a:sym typeface="Calibri"/>
              </a:rPr>
              <a:t>Universidade Federal Rural de Pernambuco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40080" y="3703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2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8FA5B2"/>
                </a:solidFill>
                <a:latin typeface="Calibri"/>
                <a:ea typeface="Calibri"/>
                <a:cs typeface="Calibri"/>
                <a:sym typeface="Calibri"/>
              </a:rPr>
              <a:t>Bacharelado em Sistemas de Informação — PISI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40080" y="416052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8FA5B2"/>
                </a:solidFill>
                <a:latin typeface="Calibri"/>
                <a:ea typeface="Calibri"/>
                <a:cs typeface="Calibri"/>
                <a:sym typeface="Calibri"/>
              </a:rPr>
              <a:t>Rennan José da Silva Miranda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8FA5B2"/>
                </a:solidFill>
                <a:latin typeface="Calibri"/>
                <a:ea typeface="Calibri"/>
                <a:cs typeface="Calibri"/>
                <a:sym typeface="Calibri"/>
              </a:rPr>
              <a:t>João Pedro Leite Aires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5B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8FA5B2"/>
                </a:solidFill>
                <a:latin typeface="Calibri"/>
                <a:ea typeface="Calibri"/>
                <a:cs typeface="Calibri"/>
                <a:sym typeface="Calibri"/>
              </a:rPr>
              <a:t>Danilo Mikhael da Silva Melo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400800" y="45262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5B2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8FA5B2"/>
                </a:solidFill>
                <a:latin typeface="Calibri"/>
                <a:ea typeface="Calibri"/>
                <a:cs typeface="Calibri"/>
                <a:sym typeface="Calibri"/>
              </a:rPr>
              <a:t>Abril de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O Problema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57200" y="1097280"/>
            <a:ext cx="64008" cy="356616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777240" y="12344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Trebuchet MS"/>
              <a:buNone/>
            </a:pPr>
            <a:r>
              <a:rPr b="1" i="0" lang="pt-BR" sz="16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777240" y="1691640"/>
            <a:ext cx="3566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 FlyFood é um app de entregas por drone. O desafio: encontrar a </a:t>
            </a:r>
            <a:r>
              <a:rPr b="1" i="0" lang="pt-BR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rota de menor custo</a:t>
            </a:r>
            <a:r>
              <a:rPr b="0" i="0" lang="pt-BR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que parta do ponto R, visite todos os pontos de entrega e retorne a 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Isso é o </a:t>
            </a:r>
            <a:r>
              <a:rPr b="1" i="0" lang="pt-BR" sz="1300" u="none" cap="none" strike="noStrike">
                <a:solidFill>
                  <a:srgbClr val="14919B"/>
                </a:solidFill>
                <a:latin typeface="Calibri"/>
                <a:ea typeface="Calibri"/>
                <a:cs typeface="Calibri"/>
                <a:sym typeface="Calibri"/>
              </a:rPr>
              <a:t>Problema do Caixeiro Viajante (TSP)</a:t>
            </a:r>
            <a:r>
              <a:rPr b="0" i="0" lang="pt-BR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— um problema NP-Difícil da otimização combinatória.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 drone se move apenas na horizontal e vertical (sem diagonais), usando a </a:t>
            </a:r>
            <a:r>
              <a:rPr b="1" i="0" lang="pt-BR" sz="1300" u="none" cap="none" strike="noStrike">
                <a:solidFill>
                  <a:srgbClr val="14919B"/>
                </a:solidFill>
                <a:latin typeface="Calibri"/>
                <a:ea typeface="Calibri"/>
                <a:cs typeface="Calibri"/>
                <a:sym typeface="Calibri"/>
              </a:rPr>
              <a:t>Distância Manhattan</a:t>
            </a:r>
            <a:r>
              <a:rPr b="0" i="0" lang="pt-BR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 como métrica de custo (em "dronômetros").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0B2545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120640" y="12344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919B"/>
              </a:buClr>
              <a:buSzPts val="1400"/>
              <a:buFont typeface="Trebuchet MS"/>
              <a:buNone/>
            </a:pPr>
            <a:r>
              <a:rPr b="1" i="0" lang="pt-BR" sz="1400" u="none" cap="none" strike="noStrike">
                <a:solidFill>
                  <a:srgbClr val="14919B"/>
                </a:solidFill>
                <a:latin typeface="Trebuchet MS"/>
                <a:ea typeface="Trebuchet MS"/>
                <a:cs typeface="Trebuchet MS"/>
                <a:sym typeface="Trebuchet MS"/>
              </a:rPr>
              <a:t>Exemplo de Mapa (Matriz)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303520" y="1737360"/>
            <a:ext cx="3200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E2"/>
              </a:buClr>
              <a:buSzPts val="1600"/>
              <a:buFont typeface="Consolas"/>
              <a:buNone/>
            </a:pPr>
            <a:r>
              <a:rPr b="0" i="0" lang="pt-BR" sz="1600" u="none" cap="none" strike="noStrike">
                <a:solidFill>
                  <a:srgbClr val="A8D5E2"/>
                </a:solidFill>
                <a:latin typeface="Consolas"/>
                <a:ea typeface="Consolas"/>
                <a:cs typeface="Consolas"/>
                <a:sym typeface="Consolas"/>
              </a:rPr>
              <a:t>  0   0   0   0   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E2"/>
              </a:buClr>
              <a:buSzPts val="1600"/>
              <a:buFont typeface="Consolas"/>
              <a:buNone/>
            </a:pPr>
            <a:r>
              <a:rPr b="0" i="0" lang="pt-BR" sz="1600" u="none" cap="none" strike="noStrike">
                <a:solidFill>
                  <a:srgbClr val="A8D5E2"/>
                </a:solidFill>
                <a:latin typeface="Consolas"/>
                <a:ea typeface="Consolas"/>
                <a:cs typeface="Consolas"/>
                <a:sym typeface="Consolas"/>
              </a:rPr>
              <a:t>  0   A   0   0  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E2"/>
              </a:buClr>
              <a:buSzPts val="1600"/>
              <a:buFont typeface="Consolas"/>
              <a:buNone/>
            </a:pPr>
            <a:r>
              <a:rPr b="0" i="0" lang="pt-BR" sz="1600" u="none" cap="none" strike="noStrike">
                <a:solidFill>
                  <a:srgbClr val="A8D5E2"/>
                </a:solidFill>
                <a:latin typeface="Consolas"/>
                <a:ea typeface="Consolas"/>
                <a:cs typeface="Consolas"/>
                <a:sym typeface="Consolas"/>
              </a:rPr>
              <a:t>  0   0   0   0   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5E2"/>
              </a:buClr>
              <a:buSzPts val="1600"/>
              <a:buFont typeface="Consolas"/>
              <a:buNone/>
            </a:pPr>
            <a:r>
              <a:rPr b="0" i="0" lang="pt-BR" sz="1600" u="none" cap="none" strike="noStrike">
                <a:solidFill>
                  <a:srgbClr val="A8D5E2"/>
                </a:solidFill>
                <a:latin typeface="Consolas"/>
                <a:ea typeface="Consolas"/>
                <a:cs typeface="Consolas"/>
                <a:sym typeface="Consolas"/>
              </a:rPr>
              <a:t>  R   0   B   0   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5120640" y="34747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Melhor rota: A → D → C → 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5120640" y="37947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B0D4E8"/>
                </a:solidFill>
                <a:latin typeface="Calibri"/>
                <a:ea typeface="Calibri"/>
                <a:cs typeface="Calibri"/>
                <a:sym typeface="Calibri"/>
              </a:rPr>
              <a:t>Custo total: 14 dronômetros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411480" y="182880"/>
            <a:ext cx="502920" cy="50292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Distância Manhattan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57200" y="1051560"/>
            <a:ext cx="4114800" cy="1554480"/>
          </a:xfrm>
          <a:prstGeom prst="rect">
            <a:avLst/>
          </a:prstGeom>
          <a:solidFill>
            <a:srgbClr val="E8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731520" y="1143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pt-BR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Fórmula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2000"/>
              <a:buFont typeface="Consolas"/>
              <a:buNone/>
            </a:pPr>
            <a:r>
              <a:rPr b="0" i="0" lang="pt-BR" sz="2000" u="none" cap="none" strike="noStrike">
                <a:solidFill>
                  <a:srgbClr val="0B2545"/>
                </a:solidFill>
                <a:latin typeface="Consolas"/>
                <a:ea typeface="Consolas"/>
                <a:cs typeface="Consolas"/>
                <a:sym typeface="Consolas"/>
              </a:rPr>
              <a:t>d(A, B) = |xA − xB| + |yA − yB|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731520" y="2103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100"/>
              <a:buFont typeface="Calibri"/>
              <a:buNone/>
            </a:pPr>
            <a:r>
              <a:rPr b="0" i="1" lang="pt-BR" sz="11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Soma das diferenças absolutas das coordenadas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846320" y="1051560"/>
            <a:ext cx="3931920" cy="1554480"/>
          </a:xfrm>
          <a:prstGeom prst="rect">
            <a:avLst/>
          </a:prstGeom>
          <a:solidFill>
            <a:srgbClr val="FFF8E1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5120640" y="1143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500"/>
              <a:buFont typeface="Trebuchet MS"/>
              <a:buNone/>
            </a:pPr>
            <a:r>
              <a:rPr b="1" i="0" lang="pt-BR" sz="1500" u="none" cap="none" strike="noStrike">
                <a:solidFill>
                  <a:srgbClr val="E65100"/>
                </a:solidFill>
                <a:latin typeface="Trebuchet MS"/>
                <a:ea typeface="Trebuchet MS"/>
                <a:cs typeface="Trebuchet MS"/>
                <a:sym typeface="Trebuchet MS"/>
              </a:rPr>
              <a:t>Por que Manhattan?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120640" y="155448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 drone se move apenas na horizontal e vertical — como em quarteirões de uma cidade. Sem diagonais permitidas!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457200" y="2880360"/>
            <a:ext cx="83210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457200" y="2880360"/>
            <a:ext cx="64008" cy="1920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777240" y="29718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pt-BR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Exemplo Prático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77240" y="33832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 A(1,1) para B(3,2):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 = |1 − 3| + |1 − 2| = 2 + 1 = </a:t>
            </a:r>
            <a:r>
              <a:rPr b="1" i="0" lang="pt-BR" sz="1400" u="none" cap="none" strike="noStrike">
                <a:solidFill>
                  <a:srgbClr val="14919B"/>
                </a:solidFill>
                <a:latin typeface="Calibri"/>
                <a:ea typeface="Calibri"/>
                <a:cs typeface="Calibri"/>
                <a:sym typeface="Calibri"/>
              </a:rPr>
              <a:t>3 dronômetros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846320" y="33832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1" i="0" lang="pt-BR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Rota completa R → A → D → C → B → 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3 + 4 + 2 + 3 + 2 = </a:t>
            </a:r>
            <a:r>
              <a:rPr b="1" i="0" lang="pt-BR" sz="1400" u="none" cap="none" strike="noStrike">
                <a:solidFill>
                  <a:srgbClr val="14919B"/>
                </a:solidFill>
                <a:latin typeface="Calibri"/>
                <a:ea typeface="Calibri"/>
                <a:cs typeface="Calibri"/>
                <a:sym typeface="Calibri"/>
              </a:rPr>
              <a:t>14 dronômetros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Algoritmo: Força Bruta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65760" y="1051560"/>
            <a:ext cx="19659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1051560" y="11430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051560" y="1143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457200" y="17373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pt-BR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Separar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57200" y="205740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Extrair pontos de entrega (excluir 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2560320" y="1051560"/>
            <a:ext cx="19659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3246120" y="11430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3246120" y="1143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2651760" y="17373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pt-BR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Permutar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2651760" y="205740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Gerar todas as n! ordens possíveis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754880" y="1051560"/>
            <a:ext cx="19659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5440680" y="11430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440680" y="1143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4846320" y="17373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pt-BR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Calcular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846320" y="205740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Custo de cada rota: R→...→R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949440" y="1051560"/>
            <a:ext cx="196596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7635240" y="114300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7635240" y="1143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pt-BR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7040880" y="173736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Trebuchet MS"/>
              <a:buNone/>
            </a:pPr>
            <a:r>
              <a:rPr b="1" i="0" lang="pt-BR" sz="1500" u="none" cap="none" strike="noStrike">
                <a:solidFill>
                  <a:srgbClr val="065A82"/>
                </a:solidFill>
                <a:latin typeface="Trebuchet MS"/>
                <a:ea typeface="Trebuchet MS"/>
                <a:cs typeface="Trebuchet MS"/>
                <a:sym typeface="Trebuchet MS"/>
              </a:rPr>
              <a:t>Selecionar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7040880" y="205740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Guardar a rota de menor custo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57200" y="2788920"/>
            <a:ext cx="8321040" cy="2103120"/>
          </a:xfrm>
          <a:prstGeom prst="rect">
            <a:avLst/>
          </a:prstGeom>
          <a:solidFill>
            <a:srgbClr val="0B2545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731520" y="2880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919B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14919B"/>
                </a:solidFill>
                <a:latin typeface="Calibri"/>
                <a:ea typeface="Calibri"/>
                <a:cs typeface="Calibri"/>
                <a:sym typeface="Calibri"/>
              </a:rPr>
              <a:t>encontrar_menor_rota() — Trecho principal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31520" y="324612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entregas = [p for p in pontos if p != "R"]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melhor_rota = None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menor_custo = float("inf")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for perm in permutations(entregas):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    custo = calcular_custo_rota(perm, pontos)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    if custo &lt; menor_custo: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        menor_custo = custo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        melhor_rota = perm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1A5"/>
              </a:buClr>
              <a:buSzPts val="1100"/>
              <a:buFont typeface="Consolas"/>
              <a:buNone/>
            </a:pPr>
            <a:r>
              <a:rPr b="0" i="0" lang="pt-BR" sz="1100" u="none" cap="none" strike="noStrike">
                <a:solidFill>
                  <a:srgbClr val="C5E1A5"/>
                </a:solidFill>
                <a:latin typeface="Consolas"/>
                <a:ea typeface="Consolas"/>
                <a:cs typeface="Consolas"/>
                <a:sym typeface="Consolas"/>
              </a:rPr>
              <a:t>return melhor_rota, menor_custo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6035040" y="3246120"/>
            <a:ext cx="2560320" cy="1508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0" y="33375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6217920" y="3749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300"/>
              <a:buFont typeface="Trebuchet MS"/>
              <a:buNone/>
            </a:pPr>
            <a:r>
              <a:rPr b="1" i="0" lang="pt-BR" sz="1300" u="none" cap="none" strike="noStrike">
                <a:solidFill>
                  <a:srgbClr val="F9A825"/>
                </a:solidFill>
                <a:latin typeface="Trebuchet MS"/>
                <a:ea typeface="Trebuchet MS"/>
                <a:cs typeface="Trebuchet MS"/>
                <a:sym typeface="Trebuchet MS"/>
              </a:rPr>
              <a:t>Ponto-chave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6217920" y="4023360"/>
            <a:ext cx="2194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0E8F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D0E8F2"/>
                </a:solidFill>
                <a:latin typeface="Calibri"/>
                <a:ea typeface="Calibri"/>
                <a:cs typeface="Calibri"/>
                <a:sym typeface="Calibri"/>
              </a:rPr>
              <a:t>Testa TODAS as rotas possíveis — garante a solução ótima, mas com custo exponencial O(n!)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Arquitetura do Código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300"/>
              <a:buFont typeface="Calibri"/>
              <a:buNone/>
            </a:pPr>
            <a:r>
              <a:rPr b="0" i="1" lang="pt-BR" sz="13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flyfood.py — 6 funções modulares com responsabilidade única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57200" y="1280160"/>
            <a:ext cx="26060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94360" y="1463040"/>
            <a:ext cx="320040" cy="3200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94360" y="14630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005840" y="144475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onsolas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ler_matriz()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94360" y="192024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Lê o arquivo de entrada e extrai as coordenadas de cada ponto em um dicionário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291840" y="1280160"/>
            <a:ext cx="26060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3291840" y="1280160"/>
            <a:ext cx="2606040" cy="5486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3429000" y="1463040"/>
            <a:ext cx="320040" cy="3200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3429000" y="14630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840480" y="144475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onsolas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distancia_manhattan()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429000" y="192024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Calcula a distância L1 entre dois pontos (soma das diferenças absolutas)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126480" y="1280160"/>
            <a:ext cx="26060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6263640" y="1463040"/>
            <a:ext cx="320040" cy="3200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6263640" y="14630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675120" y="144475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onsolas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calcular_custo_rota()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263640" y="192024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Calcula o custo total: R → entregas → R, somando todas as distâncias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57200" y="3154680"/>
            <a:ext cx="26060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457200" y="3154680"/>
            <a:ext cx="2606040" cy="5486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94360" y="3337560"/>
            <a:ext cx="320040" cy="3200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9436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005840" y="331927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onsolas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encontrar_menor_rota()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94360" y="379476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Gera todas as n! permutações e seleciona a de menor custo (força bruta)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291840" y="3154680"/>
            <a:ext cx="26060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3291840" y="3154680"/>
            <a:ext cx="2606040" cy="5486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3429000" y="3337560"/>
            <a:ext cx="320040" cy="3200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342900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840480" y="331927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onsolas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formatar_resultado()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429000" y="379476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Converte a tupla da rota em string formatada para exibição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126480" y="3154680"/>
            <a:ext cx="260604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6126480" y="3154680"/>
            <a:ext cx="2606040" cy="5486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6263640" y="3337560"/>
            <a:ext cx="320040" cy="3200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6263640" y="33375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675120" y="331927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onsolas"/>
              <a:buNone/>
            </a:pPr>
            <a:r>
              <a:rPr b="1" i="0" lang="pt-BR" sz="12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main()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263640" y="3794760"/>
            <a:ext cx="2331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50"/>
              <a:buFont typeface="Calibri"/>
              <a:buNone/>
            </a:pPr>
            <a:r>
              <a:rPr b="0" i="0" lang="pt-BR" sz="11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Função orquestradora: lê → processa → exibe resultado no terminal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Complexidade Computacional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57200" y="1005840"/>
            <a:ext cx="2560320" cy="7315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457200" y="1005840"/>
            <a:ext cx="2560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2800"/>
              <a:buFont typeface="Consolas"/>
              <a:buNone/>
            </a:pPr>
            <a:r>
              <a:rPr b="1" i="0" lang="pt-BR" sz="2800" u="none" cap="none" strike="noStrike">
                <a:solidFill>
                  <a:srgbClr val="F9A825"/>
                </a:solidFill>
                <a:latin typeface="Consolas"/>
                <a:ea typeface="Consolas"/>
                <a:cs typeface="Consolas"/>
                <a:sym typeface="Consolas"/>
              </a:rPr>
              <a:t>O(n! × n)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200400" y="11430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300"/>
              <a:buFont typeface="Calibri"/>
              <a:buNone/>
            </a:pPr>
            <a:r>
              <a:rPr b="0" i="1" lang="pt-BR" sz="13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n = número de pontos de entrega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20"/>
          <p:cNvGraphicFramePr/>
          <p:nvPr/>
        </p:nvGraphicFramePr>
        <p:xfrm>
          <a:off x="45720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{A89ADC22-8D5B-48B1-A5D1-051C18380F42}</a:tableStyleId>
              </a:tblPr>
              <a:tblGrid>
                <a:gridCol w="1371600"/>
                <a:gridCol w="1828800"/>
                <a:gridCol w="1828800"/>
              </a:tblGrid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Pontos (n)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Permutações (n!)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Viabilidade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Instantâneo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Instantâneo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40.320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7F1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F57F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Viável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1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3.628.800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431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D8431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9E7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Calibri"/>
                        <a:buNone/>
                      </a:pPr>
                      <a:r>
                        <a:rPr lang="pt-BR" sz="13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~2.4 × 10¹⁸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1C1C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pt-BR" sz="1300" u="none" cap="none" strike="noStrike">
                          <a:solidFill>
                            <a:srgbClr val="B71C1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Inviável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pic>
        <p:nvPicPr>
          <p:cNvPr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1645920"/>
            <a:ext cx="3017520" cy="3017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0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rgbClr val="1B2A4A"/>
                </a:solidFill>
                <a:latin typeface="Trebuchet MS"/>
                <a:ea typeface="Trebuchet MS"/>
                <a:cs typeface="Trebuchet MS"/>
                <a:sym typeface="Trebuchet MS"/>
              </a:rPr>
              <a:t>Testes Automatizados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57200" y="1005840"/>
            <a:ext cx="2286000" cy="137160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57200" y="105156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5200"/>
              <a:buFont typeface="Trebuchet MS"/>
              <a:buNone/>
            </a:pPr>
            <a:r>
              <a:rPr b="1" i="0" lang="pt-BR" sz="52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27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57200" y="18745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testes — 100% aprovados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017520" y="1005840"/>
            <a:ext cx="1645920" cy="1371600"/>
          </a:xfrm>
          <a:prstGeom prst="rect">
            <a:avLst/>
          </a:prstGeom>
          <a:solidFill>
            <a:srgbClr val="F3E5F5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3017520" y="118872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2200"/>
              <a:buFont typeface="Consolas"/>
              <a:buNone/>
            </a:pPr>
            <a:r>
              <a:rPr b="1" i="0" lang="pt-BR" sz="2200" u="none" cap="none" strike="noStrike">
                <a:solidFill>
                  <a:srgbClr val="7B1FA2"/>
                </a:solidFill>
                <a:latin typeface="Consolas"/>
                <a:ea typeface="Consolas"/>
                <a:cs typeface="Consolas"/>
                <a:sym typeface="Consolas"/>
              </a:rPr>
              <a:t>pytest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017520" y="1874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Framework de testes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21"/>
          <p:cNvGraphicFramePr/>
          <p:nvPr/>
        </p:nvGraphicFramePr>
        <p:xfrm>
          <a:off x="457200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{A89ADC22-8D5B-48B1-A5D1-051C18380F42}</a:tableStyleId>
              </a:tblPr>
              <a:tblGrid>
                <a:gridCol w="2103125"/>
                <a:gridCol w="640075"/>
                <a:gridCol w="55778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Qtd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que valida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Distância Manhattan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Mesma posição, horizontal, vertical, simetria, valores grandes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Leitura de Matriz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Exemplo do enunciado, matriz 2×2, 1 linha, 1 coluna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 de Rota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Rota simples, 2 pontos, rota inversa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Menor Rota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a 5 pontos, cantos, R no centro, adjacentes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Formatação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Conversão de tupla para string formatada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Integração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Fluxo completo end-to-end com arquivos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545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200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e Conclusão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57200" y="1051550"/>
            <a:ext cx="8321100" cy="2743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/>
          <p:nvPr/>
        </p:nvSpPr>
        <p:spPr>
          <a:xfrm>
            <a:off x="1051560" y="1188720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700"/>
              <a:buFont typeface="Trebuchet MS"/>
              <a:buNone/>
            </a:pPr>
            <a:r>
              <a:rPr b="1" i="0" lang="pt-BR" sz="1700" u="none" cap="none" strike="noStrike">
                <a:solidFill>
                  <a:srgbClr val="F9A825"/>
                </a:solidFill>
                <a:latin typeface="Trebuchet MS"/>
                <a:ea typeface="Trebuchet MS"/>
                <a:cs typeface="Trebuchet MS"/>
                <a:sym typeface="Trebuchet MS"/>
              </a:rPr>
              <a:t>Resultados Alcançados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40080" y="1691640"/>
            <a:ext cx="35661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0E8F2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D0E8F2"/>
                </a:solidFill>
                <a:latin typeface="Calibri"/>
                <a:ea typeface="Calibri"/>
                <a:cs typeface="Calibri"/>
                <a:sym typeface="Calibri"/>
              </a:rPr>
              <a:t>Solução ótima garantida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0E8F2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D0E8F2"/>
                </a:solidFill>
                <a:latin typeface="Calibri"/>
                <a:ea typeface="Calibri"/>
                <a:cs typeface="Calibri"/>
                <a:sym typeface="Calibri"/>
              </a:rPr>
              <a:t>para instâncias com até ~10 pontos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0E8F2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D0E8F2"/>
                </a:solidFill>
                <a:latin typeface="Calibri"/>
                <a:ea typeface="Calibri"/>
                <a:cs typeface="Calibri"/>
                <a:sym typeface="Calibri"/>
              </a:rPr>
              <a:t>100% dos 27 testes aprovados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0E8F2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D0E8F2"/>
                </a:solidFill>
                <a:latin typeface="Calibri"/>
                <a:ea typeface="Calibri"/>
                <a:cs typeface="Calibri"/>
                <a:sym typeface="Calibri"/>
              </a:rPr>
              <a:t>cobertura de funções e integração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0E8F2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D0E8F2"/>
                </a:solidFill>
                <a:latin typeface="Calibri"/>
                <a:ea typeface="Calibri"/>
                <a:cs typeface="Calibri"/>
                <a:sym typeface="Calibri"/>
              </a:rPr>
              <a:t>Código modular e documentado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0E8F2"/>
              </a:buClr>
              <a:buSzPts val="1300"/>
              <a:buFont typeface="Calibri"/>
              <a:buNone/>
            </a:pPr>
            <a:r>
              <a:rPr b="0" i="0" lang="pt-BR" sz="1300" u="none" cap="none" strike="noStrike">
                <a:solidFill>
                  <a:srgbClr val="D0E8F2"/>
                </a:solidFill>
                <a:latin typeface="Calibri"/>
                <a:ea typeface="Calibri"/>
                <a:cs typeface="Calibri"/>
                <a:sym typeface="Calibri"/>
              </a:rPr>
              <a:t>6 funções com responsabilidade única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457200" y="4023360"/>
            <a:ext cx="8321040" cy="777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640080" y="406908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ts val="1500"/>
              <a:buFont typeface="Calibri"/>
              <a:buNone/>
            </a:pPr>
            <a:r>
              <a:rPr b="1" i="0" lang="pt-BR" sz="1500" u="none" cap="none" strike="noStrike">
                <a:solidFill>
                  <a:srgbClr val="0B2545"/>
                </a:solidFill>
                <a:latin typeface="Calibri"/>
                <a:ea typeface="Calibri"/>
                <a:cs typeface="Calibri"/>
                <a:sym typeface="Calibri"/>
              </a:rPr>
              <a:t>A força bruta garante a solução ótima para poucos pontos — heurísticas serão o próximo passo para escalabilidade real.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Trebuchet MS"/>
              <a:buNone/>
            </a:pPr>
            <a:r>
              <a:rPr b="1" i="0" lang="pt-BR" sz="5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Obrigado!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46888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D4E8"/>
              </a:buClr>
              <a:buSzPts val="1800"/>
              <a:buFont typeface="Calibri"/>
              <a:buNone/>
            </a:pPr>
            <a:r>
              <a:rPr b="0" i="0" lang="pt-BR" sz="1800" u="none" cap="none" strike="noStrike">
                <a:solidFill>
                  <a:srgbClr val="B0D4E8"/>
                </a:solidFill>
                <a:latin typeface="Calibri"/>
                <a:ea typeface="Calibri"/>
                <a:cs typeface="Calibri"/>
                <a:sym typeface="Calibri"/>
              </a:rPr>
              <a:t>FlyFood — Grupo 11 — UFRPE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3CC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7FB3CC"/>
                </a:solidFill>
                <a:latin typeface="Calibri"/>
                <a:ea typeface="Calibri"/>
                <a:cs typeface="Calibri"/>
                <a:sym typeface="Calibri"/>
              </a:rPr>
              <a:t>Rennan José  |  João Pedro  |  Danilo Mikhael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97B0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5A97B0"/>
                </a:solidFill>
                <a:latin typeface="Calibri"/>
                <a:ea typeface="Calibri"/>
                <a:cs typeface="Calibri"/>
                <a:sym typeface="Calibri"/>
              </a:rPr>
              <a:t>Abril de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